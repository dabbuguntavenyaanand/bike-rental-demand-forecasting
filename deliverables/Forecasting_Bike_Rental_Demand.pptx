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e291b08615f695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7e291b08615f6957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96c4a370f5ab4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696c4a370f5ab421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406316aee9124e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406316aee9124eed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3595625"/>
            <a:ext cx="3634500" cy="3999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98168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2126456"/>
            <a:ext cx="3429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62000" y="4398168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1143000"/>
            <a:ext cx="4286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412206"/>
            <a:ext cx="9851231" cy="547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Forecasting Bike Rental Demand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112293"/>
            <a:ext cx="54887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 Learning Mini-Project — Project No. 87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19200" y="2059781"/>
            <a:ext cx="450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MACHINE LEARNING - UE24CS352A</a:t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67625" y="3627131"/>
            <a:ext cx="3274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Dabbugunta Venya Anand - PES1UG24AM074</a:t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Dhruv Talavat - PES1UG24AM087</a:t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2481262"/>
            <a:ext cx="4775448" cy="1724025"/>
          </a:xfrm>
          <a:prstGeom prst="roundRect">
            <a:avLst>
              <a:gd fmla="val 44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613648" y="2481262"/>
            <a:ext cx="5968751" cy="1724025"/>
          </a:xfrm>
          <a:prstGeom prst="roundRect">
            <a:avLst>
              <a:gd fmla="val 4419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1795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2630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9625" y="3757612"/>
            <a:ext cx="4375398" cy="266700"/>
          </a:xfrm>
          <a:prstGeom prst="roundRect">
            <a:avLst>
              <a:gd fmla="val 21428" name="adj"/>
            </a:avLst>
          </a:prstGeom>
          <a:solidFill>
            <a:srgbClr val="FFF7ED"/>
          </a:solidFill>
          <a:ln cap="flat" cmpd="sng" w="9525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09625" y="3348037"/>
            <a:ext cx="43753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13673" y="3262312"/>
            <a:ext cx="5568701" cy="3048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9625" y="3348037"/>
            <a:ext cx="4375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33812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67652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3673" y="26765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905" y="33623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9119" y="3362325"/>
            <a:ext cx="9525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09600" y="457200"/>
            <a:ext cx="1158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Background &amp; Reference Work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09600" y="638175"/>
            <a:ext cx="1158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Reference Paper &amp; Problem Formulation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813673" y="3890962"/>
            <a:ext cx="63783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b="0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datetime, season, holiday, workingday, weather, temp, atemp ("feels-like"), humidity, windspeed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52475" y="5857875"/>
            <a:ext cx="429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 sz="900"/>
          </a:p>
        </p:txBody>
      </p:sp>
      <p:sp>
        <p:nvSpPr>
          <p:cNvPr id="116" name="Google Shape;116;p14"/>
          <p:cNvSpPr txBox="1"/>
          <p:nvPr/>
        </p:nvSpPr>
        <p:spPr>
          <a:xfrm>
            <a:off x="75247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Derived hour/weekday/month, peak-hour indicators, and retained atemp over temp (64 combinations tested).</a:t>
            </a:r>
            <a:endParaRPr sz="950"/>
          </a:p>
        </p:txBody>
      </p:sp>
      <p:sp>
        <p:nvSpPr>
          <p:cNvPr id="117" name="Google Shape;117;p14"/>
          <p:cNvSpPr txBox="1"/>
          <p:nvPr/>
        </p:nvSpPr>
        <p:spPr>
          <a:xfrm>
            <a:off x="4460825" y="5857875"/>
            <a:ext cx="429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RESULTS &amp; FINDINGS</a:t>
            </a:r>
            <a:endParaRPr sz="900"/>
          </a:p>
        </p:txBody>
      </p:sp>
      <p:sp>
        <p:nvSpPr>
          <p:cNvPr id="118" name="Google Shape;118;p14"/>
          <p:cNvSpPr txBox="1"/>
          <p:nvPr/>
        </p:nvSpPr>
        <p:spPr>
          <a:xfrm>
            <a:off x="446082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Hour of day strongest predictor. Tree models dominant; best individual model was Conditional Inference Tree.</a:t>
            </a:r>
            <a:endParaRPr sz="950"/>
          </a:p>
        </p:txBody>
      </p:sp>
      <p:sp>
        <p:nvSpPr>
          <p:cNvPr id="119" name="Google Shape;119;p14"/>
          <p:cNvSpPr txBox="1"/>
          <p:nvPr/>
        </p:nvSpPr>
        <p:spPr>
          <a:xfrm>
            <a:off x="8169175" y="5857875"/>
            <a:ext cx="4022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FUTURE LIMITATION</a:t>
            </a:r>
            <a:endParaRPr sz="900"/>
          </a:p>
        </p:txBody>
      </p:sp>
      <p:sp>
        <p:nvSpPr>
          <p:cNvPr id="120" name="Google Shape;120;p14"/>
          <p:cNvSpPr txBox="1"/>
          <p:nvPr/>
        </p:nvSpPr>
        <p:spPr>
          <a:xfrm>
            <a:off x="816917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Evaluation was not fully time-aware. Motivated our later use of chronological splitting and TimeSeriesSplit.</a:t>
            </a:r>
            <a:endParaRPr sz="950"/>
          </a:p>
        </p:txBody>
      </p:sp>
      <p:sp>
        <p:nvSpPr>
          <p:cNvPr id="121" name="Google Shape;121;p14"/>
          <p:cNvSpPr txBox="1"/>
          <p:nvPr/>
        </p:nvSpPr>
        <p:spPr>
          <a:xfrm>
            <a:off x="809625" y="2900362"/>
            <a:ext cx="546924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Jimmy Du, Rolland He, Zhivko Zhechev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09625" y="3090862"/>
            <a:ext cx="546924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“Forecasting Bike Rental Demand”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85850" y="3824287"/>
            <a:ext cx="332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count = casual + registered</a:t>
            </a:r>
            <a:r>
              <a:rPr lang="en-US" sz="825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 where casual &amp; registered excluded as predictors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813673" y="2881312"/>
            <a:ext cx="566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Predict hourly rental counts to manage availability and redistribute inventory efficiently.</a:t>
            </a:r>
            <a:endParaRPr b="0" i="0" sz="900" u="none" cap="none" strike="noStrike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Primary Metric: </a:t>
            </a: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RMSLE</a:t>
            </a: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(Lower is better).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00125" y="2662237"/>
            <a:ext cx="196274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Stanford CS229 (2014)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09625" y="3357562"/>
            <a:ext cx="54692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Location:</a:t>
            </a: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Washington D.C. Capital Bikeshare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09625" y="3529012"/>
            <a:ext cx="54692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Kaggle Setup:</a:t>
            </a: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Train = 10,886 | Test = 6,439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023223" y="2662237"/>
            <a:ext cx="258782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Core Task &amp; Operational Need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937475" y="3344800"/>
            <a:ext cx="1509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Calendar + Weather + Time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297912" y="3348037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Regression Model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0582126" y="3348037"/>
            <a:ext cx="9620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Hourly Count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758952" y="530352"/>
            <a:ext cx="109728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Preparation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58952" y="740664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Understanding &amp; Feature Engineering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58952" y="1280160"/>
            <a:ext cx="10671048" cy="4754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22960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Raw Data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2286000" y="14173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Quality Checks &amp; EDA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800600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Leakage Removal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022592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710928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Final Feature Set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984248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4498848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729984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381744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58952" y="1984248"/>
            <a:ext cx="4965192" cy="1499616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60120" y="214884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Understanding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4096512" y="2093976"/>
            <a:ext cx="1362456" cy="256032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data_understanding.py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960120" y="2450592"/>
            <a:ext cx="1051560" cy="246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17,379 rows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2103120" y="2450592"/>
            <a:ext cx="914400" cy="246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2011–2012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60120" y="2770632"/>
            <a:ext cx="4553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Types + date parsing   • Missing values   • Duplicate (date, hour) checks</a:t>
            </a:r>
            <a:b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Target distribution + skew   • Weather correlations   • 12 EDA plots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758952" y="3621024"/>
            <a:ext cx="4965192" cy="18470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960120" y="3785615"/>
            <a:ext cx="4434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EDA Insight: Working-Day Demand Profile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60120" y="402336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Morning and evening commuter peaks motivated the rush-hour and peak-time features.</a:t>
            </a:r>
            <a:endParaRPr/>
          </a:p>
        </p:txBody>
      </p:sp>
      <p:cxnSp>
        <p:nvCxnSpPr>
          <p:cNvPr id="157" name="Google Shape;157;p15"/>
          <p:cNvCxnSpPr/>
          <p:nvPr/>
        </p:nvCxnSpPr>
        <p:spPr>
          <a:xfrm>
            <a:off x="1024128" y="5239512"/>
            <a:ext cx="435254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15"/>
          <p:cNvCxnSpPr/>
          <p:nvPr/>
        </p:nvCxnSpPr>
        <p:spPr>
          <a:xfrm>
            <a:off x="2112264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15"/>
          <p:cNvCxnSpPr/>
          <p:nvPr/>
        </p:nvCxnSpPr>
        <p:spPr>
          <a:xfrm>
            <a:off x="3200400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0" name="Google Shape;160;p15"/>
          <p:cNvCxnSpPr/>
          <p:nvPr/>
        </p:nvCxnSpPr>
        <p:spPr>
          <a:xfrm>
            <a:off x="4288536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1" name="Google Shape;161;p15"/>
          <p:cNvCxnSpPr/>
          <p:nvPr/>
        </p:nvCxnSpPr>
        <p:spPr>
          <a:xfrm flipH="1" rot="10800000">
            <a:off x="1024128" y="5094671"/>
            <a:ext cx="435254" cy="48280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2" name="Google Shape;162;p15"/>
          <p:cNvCxnSpPr/>
          <p:nvPr/>
        </p:nvCxnSpPr>
        <p:spPr>
          <a:xfrm flipH="1" rot="10800000">
            <a:off x="1459382" y="4821082"/>
            <a:ext cx="348203" cy="273589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3" name="Google Shape;163;p15"/>
          <p:cNvCxnSpPr/>
          <p:nvPr/>
        </p:nvCxnSpPr>
        <p:spPr>
          <a:xfrm flipH="1" rot="10800000">
            <a:off x="1807585" y="4595774"/>
            <a:ext cx="304679" cy="22530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4" name="Google Shape;164;p15"/>
          <p:cNvCxnSpPr/>
          <p:nvPr/>
        </p:nvCxnSpPr>
        <p:spPr>
          <a:xfrm>
            <a:off x="2112264" y="4595774"/>
            <a:ext cx="391728" cy="305775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5" name="Google Shape;165;p15"/>
          <p:cNvCxnSpPr/>
          <p:nvPr/>
        </p:nvCxnSpPr>
        <p:spPr>
          <a:xfrm>
            <a:off x="2503992" y="4901549"/>
            <a:ext cx="609357" cy="96561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6" name="Google Shape;166;p15"/>
          <p:cNvCxnSpPr/>
          <p:nvPr/>
        </p:nvCxnSpPr>
        <p:spPr>
          <a:xfrm flipH="1" rot="10800000">
            <a:off x="3113349" y="4780848"/>
            <a:ext cx="522305" cy="217262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7" name="Google Shape;167;p15"/>
          <p:cNvCxnSpPr/>
          <p:nvPr/>
        </p:nvCxnSpPr>
        <p:spPr>
          <a:xfrm flipH="1" rot="10800000">
            <a:off x="3635654" y="4531400"/>
            <a:ext cx="522305" cy="24944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8" name="Google Shape;168;p15"/>
          <p:cNvCxnSpPr/>
          <p:nvPr/>
        </p:nvCxnSpPr>
        <p:spPr>
          <a:xfrm>
            <a:off x="4157959" y="4531400"/>
            <a:ext cx="435255" cy="305776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15"/>
          <p:cNvCxnSpPr/>
          <p:nvPr/>
        </p:nvCxnSpPr>
        <p:spPr>
          <a:xfrm>
            <a:off x="4593214" y="4837176"/>
            <a:ext cx="348203" cy="22530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0" name="Google Shape;170;p15"/>
          <p:cNvCxnSpPr/>
          <p:nvPr/>
        </p:nvCxnSpPr>
        <p:spPr>
          <a:xfrm>
            <a:off x="4941417" y="5062484"/>
            <a:ext cx="435255" cy="72420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1" name="Google Shape;171;p15"/>
          <p:cNvSpPr/>
          <p:nvPr/>
        </p:nvSpPr>
        <p:spPr>
          <a:xfrm>
            <a:off x="2075688" y="4559198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609344" y="4339742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Morning peak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4121383" y="4494824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3655039" y="427536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Evening peak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1024128" y="5248656"/>
            <a:ext cx="43525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Hour of day  →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5989320" y="1984248"/>
            <a:ext cx="5440680" cy="3483864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 cap="flat" cmpd="sng" w="101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6227064" y="21488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9747504" y="2093976"/>
            <a:ext cx="1389888" cy="2560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feature_engineering.py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6227064" y="2468880"/>
            <a:ext cx="496519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6428232" y="2596896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Cyclic Time Encoding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6428232" y="2798064"/>
            <a:ext cx="2606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hour • weekday • month → sin/cos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8979408" y="2624328"/>
            <a:ext cx="1938528" cy="320040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23:00  ↔  00:00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227064" y="341985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Derived Behavioural Features</a:t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6227064" y="3694176"/>
            <a:ext cx="1243584" cy="265176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is_weekend</a:t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7580375" y="3694176"/>
            <a:ext cx="1353312" cy="265176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is_rush_hour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9052560" y="3694176"/>
            <a:ext cx="1170432" cy="265176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peak_time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6227064" y="4050791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Rush hour = working day AND 07–09 / 17–19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227064" y="43616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Peak-time categories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227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weekday_peak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7370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weekday_off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8513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weekend_peak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9656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weekend_off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6227064" y="5010912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Goal: preserve periodic time structure + commuting behaviour.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758952" y="5650992"/>
            <a:ext cx="10671048" cy="694944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932688" y="57698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 Feature Set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2176272" y="5733288"/>
            <a:ext cx="1856231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Weather  • atemp, hum, wind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4142232" y="5733288"/>
            <a:ext cx="2075688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 • hour, weekday, month, year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6327648" y="5733288"/>
            <a:ext cx="1847088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Calendar  • season, holiday, workday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8284464" y="5733288"/>
            <a:ext cx="1920240" cy="274320"/>
          </a:xfrm>
          <a:prstGeom prst="roundRect">
            <a:avLst>
              <a:gd fmla="val 16667" name="adj"/>
            </a:avLst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5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Derived  • weekend, rush, peak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10287000" y="5733288"/>
            <a:ext cx="896112" cy="2743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Leakage ✕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932688" y="6062472"/>
            <a:ext cx="9966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Excluded from modeling: cnt, casual, registered, instant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713232" y="41148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EXPERIMENTAL DESIGN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713232" y="6126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Methodology &amp; Validation Framework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7936992" y="640080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Selection rule: lowest CV RMSLE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713232" y="1216152"/>
            <a:ext cx="10771632" cy="457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859536" y="1289304"/>
            <a:ext cx="1325880" cy="31089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17,379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observations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2350008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2798064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Chronological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holdout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4379976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736592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TimeSeriesSplit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4 folds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6318503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6720840" y="1289304"/>
            <a:ext cx="1600200" cy="310896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RMSLE tuning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8485632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823960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Select by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CV RMSLE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713232" y="1874519"/>
            <a:ext cx="5138928" cy="427024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914400" y="207568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Temporal Validation Design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14400" y="2331720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Chronological split keeps future observations out of training.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914400" y="26974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 holdout split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914400" y="2907792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 boundary: 2012-08-07  •  Test set untouched until final reporting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914400" y="3200400"/>
            <a:ext cx="3584448" cy="320040"/>
          </a:xfrm>
          <a:prstGeom prst="rect">
            <a:avLst/>
          </a:prstGeom>
          <a:solidFill>
            <a:srgbClr val="0077C8"/>
          </a:solidFill>
          <a:ln cap="flat" cmpd="sng" w="12700">
            <a:solidFill>
              <a:srgbClr val="007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TRAINING PERIOD 13,915 rows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4498848" y="3200400"/>
            <a:ext cx="109728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3,464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14400" y="361188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3611880" y="3611880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5138928" y="3611880"/>
            <a:ext cx="457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FUTURE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914400" y="40416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TimeSeriesSplit inside training data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914400" y="4251960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validation fold occurs after its corresponding training block.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914400" y="4581144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1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1417320" y="4553712"/>
            <a:ext cx="1051560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2542032" y="4553712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914400" y="4846320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2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1417320" y="4818888"/>
            <a:ext cx="1581912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3072384" y="4818888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14400" y="5111496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3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1417320" y="5084064"/>
            <a:ext cx="2112263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3602735" y="5084064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14400" y="5376672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4</a:t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1417320" y="5349240"/>
            <a:ext cx="2642615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4133087" y="5349240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914400" y="5696712"/>
            <a:ext cx="4617720" cy="237744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No future observations are used to validate earlier observations.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6080760" y="1874519"/>
            <a:ext cx="5394960" cy="1965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6281928" y="207568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Methodology Files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6281928" y="2331720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Separation of configuration, model setup, orchestration and reporting.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30936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35508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model_config.py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6345936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features + constants</a:t>
            </a:r>
            <a:endParaRPr/>
          </a:p>
        </p:txBody>
      </p:sp>
      <p:sp>
        <p:nvSpPr>
          <p:cNvPr id="250" name="Google Shape;250;p16"/>
          <p:cNvSpPr txBox="1"/>
          <p:nvPr/>
        </p:nvSpPr>
        <p:spPr>
          <a:xfrm>
            <a:off x="737920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754380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758952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model_training.py</a:t>
            </a:r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758037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pipelines + grids</a:t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861364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877824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882396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train_models.py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881481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 experiment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984808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1001268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1005840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evaluation.py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004925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metrics + plots</a:t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6309360" y="3401568"/>
            <a:ext cx="4892040" cy="2286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production_model.pkl stores the full pipeline: preprocessing + selected model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6080760" y="4069080"/>
            <a:ext cx="5394960" cy="20756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6281928" y="42702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Preprocessing + Model Search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6309360" y="4590288"/>
            <a:ext cx="1417320" cy="39319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Numeric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LR + KNN: StandardScaler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RF + GB: passthrough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7818120" y="4590288"/>
            <a:ext cx="1417320" cy="393192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Categorical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OneHotEncoder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for all models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9326880" y="4590288"/>
            <a:ext cx="1737360" cy="39319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tries hyperparameter combos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using TimeSeriesSplit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6309360" y="523036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6967728" y="5175504"/>
            <a:ext cx="987552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Linear Reg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8065008" y="5175504"/>
            <a:ext cx="585216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8759952" y="5175504"/>
            <a:ext cx="1143000" cy="219456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10012680" y="5175504"/>
            <a:ext cx="1325880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6309360" y="5669280"/>
            <a:ext cx="4892040" cy="256032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Decision rule: lowest CV RMSLE selects the production model; holdout test is only the final report card.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713232" y="6510528"/>
            <a:ext cx="6858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idea: tune using past-only cross-validation, then report performance once on the untouched future holdout.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762000" y="5972175"/>
            <a:ext cx="10668000" cy="352425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762000" y="1238250"/>
            <a:ext cx="5616326" cy="4733925"/>
          </a:xfrm>
          <a:prstGeom prst="roundRect">
            <a:avLst>
              <a:gd fmla="val 16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645026" y="1238250"/>
            <a:ext cx="4784973" cy="4733925"/>
          </a:xfrm>
          <a:prstGeom prst="roundRect">
            <a:avLst>
              <a:gd fmla="val 1609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864101" y="5343525"/>
            <a:ext cx="43468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864101" y="5343525"/>
            <a:ext cx="4346823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962025" y="320992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962025" y="360997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62025" y="401002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962025" y="441007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962025" y="3209925"/>
            <a:ext cx="2146399" cy="952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962025" y="3609975"/>
            <a:ext cx="2782788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962025" y="4010025"/>
            <a:ext cx="3274665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962025" y="4410075"/>
            <a:ext cx="5118645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Evaluation Results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 Performance &amp; Selection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923925" y="6076950"/>
            <a:ext cx="35123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Summary: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RF (CV: 0.4833 | Test: 0.4115 | R²: 0.8667)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3879800" y="6076950"/>
            <a:ext cx="2964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KNN: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0.5976 | Test: 0.5335 | R²: 0.6914)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6397525" y="6076950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GB: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0.7257 | Test: 0.6278 | R²: 0.8066)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8839051" y="6076950"/>
            <a:ext cx="30360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Linear: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1.2964 | Test: 0.9813 | R²: 0.7392)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962025" y="2705100"/>
            <a:ext cx="68463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 RMSLE Comparison (Lower is Better)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6864101" y="1457325"/>
            <a:ext cx="444207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Selected Model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6864101" y="1685925"/>
            <a:ext cx="53278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Random Forest Regression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6864101" y="202882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Selected by: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Lowest CV RMSLE = 0.4833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6864101" y="223837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Holdout RMSLE: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0.4115 | </a:t>
            </a: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R²: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0.8667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6864101" y="244792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RMSE: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80.43 | </a:t>
            </a: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MAE: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53.13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6864101" y="5467350"/>
            <a:ext cx="44420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Best Hyperparameters:</a:t>
            </a: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n_estimators = 400 | max_depth = None | min_samples_leaf = 1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962025" y="301942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Random Forest (Selected)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5778251" y="3019425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0.4115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962025" y="3419475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KNN Regression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5759201" y="3419475"/>
            <a:ext cx="704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0.5335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962025" y="3819525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5768726" y="3819525"/>
            <a:ext cx="695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0.6278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962025" y="4219575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Linear Regression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5787776" y="4219575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0.9813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762000" y="5848350"/>
            <a:ext cx="10668000" cy="476250"/>
          </a:xfrm>
          <a:prstGeom prst="roundRect">
            <a:avLst>
              <a:gd fmla="val 16000" name="adj"/>
            </a:avLst>
          </a:prstGeom>
          <a:solidFill>
            <a:srgbClr val="E6FFFA"/>
          </a:solidFill>
          <a:ln cap="flat" cmpd="sng" w="9525">
            <a:solidFill>
              <a:srgbClr val="B2F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62000" y="24098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6315075" y="24098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762000" y="32099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6315075" y="32099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762000" y="40100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315075" y="40100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2667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3467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42672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 txBox="1"/>
          <p:nvPr/>
        </p:nvSpPr>
        <p:spPr>
          <a:xfrm>
            <a:off x="-171450" y="5981700"/>
            <a:ext cx="12534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“Directly addresses the reference paper’s stated need for more realistic temporal evaluation.”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Methodological Extensions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Beyond the Reference Paper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962025" y="25717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962025" y="27527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10-fold CV (Not explicitly time-aware)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6515100" y="25717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6515100" y="27527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Chronological holdout + TimeSeriesSplit(4)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962025" y="33718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962025" y="35528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variables used directly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6515100" y="33718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6515100" y="35528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Cyclic sine/cosine time encoding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962025" y="41719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62025" y="43529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Offline experimentation script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6515100" y="41719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6515100" y="43529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Streamlit inference demo + shared feature pipeline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762000" y="6019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762000" y="1276350"/>
            <a:ext cx="4788544" cy="4743450"/>
          </a:xfrm>
          <a:prstGeom prst="roundRect">
            <a:avLst>
              <a:gd fmla="val 1606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5817244" y="1276350"/>
            <a:ext cx="5612755" cy="4743450"/>
          </a:xfrm>
          <a:prstGeom prst="roundRect">
            <a:avLst>
              <a:gd fmla="val 160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762000" y="6019800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6036319" y="317658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6036319" y="361473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036319" y="405288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3295650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3733800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Summary &amp; Deployment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 &amp; Interactive Demo Flow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10725150" y="6162675"/>
            <a:ext cx="990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1000125" y="3138487"/>
            <a:ext cx="53903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FINAL MODEL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1000125" y="3319462"/>
            <a:ext cx="56598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6036319" y="2938462"/>
            <a:ext cx="615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Streamlit Inference Flow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762000" y="6172200"/>
            <a:ext cx="3583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Nonlinear models captured demand patterns better.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3819525" y="6172200"/>
            <a:ext cx="3786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Time-aware validation ensures real-world robustness.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7038975" y="6172200"/>
            <a:ext cx="3202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Shared pipeline keeps deployment consistent.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5522844" y="4148137"/>
            <a:ext cx="62015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Random Forest Prediction Output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1000125" y="3767137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CV RMSLE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000125" y="3910012"/>
            <a:ext cx="1028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0.4833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1895475" y="3767137"/>
            <a:ext cx="933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Test RMSLE</a:t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1895475" y="3910012"/>
            <a:ext cx="933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0.4115</a:t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2695575" y="3767137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R²</a:t>
            </a:r>
            <a:endParaRPr/>
          </a:p>
        </p:txBody>
      </p:sp>
      <p:sp>
        <p:nvSpPr>
          <p:cNvPr id="370" name="Google Shape;370;p19"/>
          <p:cNvSpPr txBox="1"/>
          <p:nvPr/>
        </p:nvSpPr>
        <p:spPr>
          <a:xfrm>
            <a:off x="2695575" y="3910012"/>
            <a:ext cx="10001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0.8667</a:t>
            </a:r>
            <a:endParaRPr/>
          </a:p>
        </p:txBody>
      </p:sp>
      <p:sp>
        <p:nvSpPr>
          <p:cNvPr id="371" name="Google Shape;371;p19"/>
          <p:cNvSpPr txBox="1"/>
          <p:nvPr/>
        </p:nvSpPr>
        <p:spPr>
          <a:xfrm>
            <a:off x="6179194" y="3281362"/>
            <a:ext cx="26312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User Inputs (Date | Hour | Weather)</a:t>
            </a:r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6179194" y="3719512"/>
            <a:ext cx="2607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Derived Calendar &amp; Cyclic Features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
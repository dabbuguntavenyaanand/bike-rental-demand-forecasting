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877824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Bike Rental Demand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Person A - Dhruv Talavat (PES1UG24AM087)</a:t>
            </a:r>
          </a:p>
          <a:p>
            <a:r>
              <a:t>Problem - Dataset - EDA - Preprocessing - Baseline</a:t>
            </a:r>
          </a:p>
          <a:p>
            <a:r>
              <a:t>Featurization aligned to Du, He &amp; Zhechev (reference paper)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Bike-share operators must match hourly supply to demand.</a:t>
            </a:r>
          </a:p>
          <a:p>
            <a:pPr>
              <a:defRPr sz="2000"/>
            </a:pPr>
            <a:r>
              <a:t>Too few bikes at rush hour = lost rides; too many = wasted docks.</a:t>
            </a:r>
          </a:p>
          <a:p>
            <a:pPr>
              <a:defRPr sz="2000"/>
            </a:pPr>
            <a:r>
              <a:t>Goal: predict hourly rentals (cnt) from calendar + weather features.</a:t>
            </a:r>
          </a:p>
          <a:p>
            <a:pPr>
              <a:defRPr sz="2000"/>
            </a:pPr>
            <a:r>
              <a:t>Supervised regression on 2 years of hourly data (2011-2012).</a:t>
            </a:r>
          </a:p>
          <a:p>
            <a:pPr>
              <a:defRPr sz="2000"/>
            </a:pPr>
            <a:r>
              <a:t>Primary metric: RMSLE (log-scale) - same as the Kaggle competition</a:t>
            </a:r>
          </a:p>
          <a:p>
            <a:pPr>
              <a:defRPr sz="2000"/>
            </a:pPr>
            <a:r>
              <a:t>   in the reference paper; also report RMSE / MAE / R2.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Source: UCI Bike Sharing Dataset - hourly file (17,379 rows).</a:t>
            </a:r>
          </a:p>
          <a:p>
            <a:pPr>
              <a:defRPr sz="2000"/>
            </a:pPr>
            <a:r>
              <a:t>Period: 2011-01-01 to 2012-12-31, Capital Bikeshare (Washington D.C.).</a:t>
            </a:r>
          </a:p>
          <a:p>
            <a:pPr>
              <a:defRPr sz="2000"/>
            </a:pPr>
            <a:r>
              <a:t>Target: cnt = casual + registered rentals per hour.</a:t>
            </a:r>
          </a:p>
          <a:p>
            <a:pPr>
              <a:defRPr sz="2000"/>
            </a:pPr>
            <a:r>
              <a:t>Calendar features: season, yr, mnth, hr, weekday, holiday, workingday.</a:t>
            </a:r>
          </a:p>
          <a:p>
            <a:pPr>
              <a:defRPr sz="2000"/>
            </a:pPr>
            <a:r>
              <a:t>Weather: weathersit, temp, atemp, hum, windspeed (normalized).</a:t>
            </a:r>
          </a:p>
          <a:p>
            <a:pPr>
              <a:defRPr sz="2000"/>
            </a:pPr>
            <a:r>
              <a:t>Note: casual + registered == cnt, so both are excluded (leakage).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Rentals by Hour of Day</a:t>
            </a:r>
          </a:p>
        </p:txBody>
      </p:sp>
      <p:pic>
        <p:nvPicPr>
          <p:cNvPr id="3" name="Picture 2" descr="03_hourly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713232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Bimodal commute pattern: peaks at 8 AM and 5-6 PM on working days.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Weekday vs Weekend Peak Hours (paper-aligned)</a:t>
            </a:r>
          </a:p>
        </p:txBody>
      </p:sp>
      <p:pic>
        <p:nvPicPr>
          <p:cNvPr id="3" name="Picture 2" descr="12_workingday_hourl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713232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Validates the paper's peak-hour idea: weekday 7-9 AM &amp; 5-7 PM; weekend 10 AM-6 PM.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Feels-like Temperature &amp; Humidity</a:t>
            </a:r>
          </a:p>
        </p:txBody>
      </p:sp>
      <p:pic>
        <p:nvPicPr>
          <p:cNvPr id="3" name="Picture 2" descr="06_atemp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7132320" cy="445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Demand rises with atemp then plateaus; humidity pulls demand 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Correlation &amp; Collinearity</a:t>
            </a:r>
          </a:p>
        </p:txBody>
      </p:sp>
      <p:pic>
        <p:nvPicPr>
          <p:cNvPr id="3" name="Picture 2" descr="09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7132320" cy="554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temp ~ atemp are ~0.99 correlated -&gt; drop raw temp, keep atemp (paper's choice).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Seasonal Pattern</a:t>
            </a:r>
          </a:p>
        </p:txBody>
      </p:sp>
      <p:pic>
        <p:nvPicPr>
          <p:cNvPr id="3" name="Picture 2" descr="04_season_a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7132320" cy="445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Peak demand in Summer and Fall; Winter is the trough.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&amp; Feature Engineering (paper-aligned)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Discretized atemp into 4 quantile buckets: cold/mild/warm/hot.</a:t>
            </a:r>
          </a:p>
          <a:p>
            <a:pPr>
              <a:defRPr sz="2000"/>
            </a:pPr>
            <a:r>
              <a:t>Peak-hour buckets: weekday 7-9 AM, 5-7 PM; weekend 10 AM-6 PM.</a:t>
            </a:r>
          </a:p>
          <a:p>
            <a:pPr>
              <a:defRPr sz="2000"/>
            </a:pPr>
            <a:r>
              <a:t>Kept month as a feature (paper: month beats coarse season).</a:t>
            </a:r>
          </a:p>
          <a:p>
            <a:pPr>
              <a:defRPr sz="2000"/>
            </a:pPr>
            <a:r>
              <a:t>Dropped raw temp (collinear with atemp); kept atemp.</a:t>
            </a:r>
          </a:p>
          <a:p>
            <a:pPr>
              <a:defRPr sz="2000"/>
            </a:pPr>
            <a:r>
              <a:t>Cyclic sin/cos encodings for hour, weekday, month.</a:t>
            </a:r>
          </a:p>
          <a:p>
            <a:pPr>
              <a:defRPr sz="2000"/>
            </a:pPr>
            <a:r>
              <a:t>One-hot encoding with handle_unknown='ignore'; leakage-safe features.</a:t>
            </a:r>
          </a:p>
          <a:p>
            <a:pPr>
              <a:defRPr sz="2000"/>
            </a:pPr>
            <a:r>
              <a:t>Temporal split by date: train 2011-01-01 to 2012-08-07, test after.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Models (for Person B to beat)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Linear Regression:  RMSLE 1.050 | RMSE 119.5 | R2 0.706</a:t>
            </a:r>
          </a:p>
          <a:p>
            <a:pPr>
              <a:defRPr sz="2000"/>
            </a:pPr>
            <a:r>
              <a:t>Random Forest:      RMSLE 0.410 | RMSE  79.7 | R2 0.869</a:t>
            </a:r>
          </a:p>
          <a:p>
            <a:pPr>
              <a:defRPr sz="2000"/>
            </a:pPr>
            <a:r>
              <a:t>Best RF params: max_depth=None, n_estimators=400, min_samples_leaf=1</a:t>
            </a:r>
          </a:p>
          <a:p>
            <a:pPr>
              <a:defRPr sz="2000"/>
            </a:pPr>
            <a:r>
              <a:t>Paper's tree models: CTree CV-RMSLE 0.460, RF 0.503 - same pattern:</a:t>
            </a:r>
          </a:p>
          <a:p>
            <a:pPr>
              <a:defRPr sz="2000"/>
            </a:pPr>
            <a:r>
              <a:t>   tree-based models dominate; plain linear models lag far behind.</a:t>
            </a:r>
          </a:p>
          <a:p>
            <a:pPr>
              <a:defRPr sz="2000"/>
            </a:pPr>
            <a:r>
              <a:t>Artifacts: models/baseline_model.pkl + baseline_metrics.json +</a:t>
            </a:r>
          </a:p>
          <a:p>
            <a:pPr>
              <a:defRPr sz="2000"/>
            </a:pPr>
            <a:r>
              <a:t>   baseline_diagnostics.json (params, features, split date).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Cleaned, documented, leak-free dataset with paper-aligned features.</a:t>
            </a:r>
          </a:p>
          <a:p>
            <a:pPr>
              <a:defRPr sz="2000"/>
            </a:pPr>
            <a:r>
              <a:t>Strong RF baseline (RMSLE 0.41) saved as the benchmark to beat.</a:t>
            </a:r>
          </a:p>
          <a:p>
            <a:pPr>
              <a:defRPr sz="2000"/>
            </a:pPr>
            <a:r>
              <a:t>Handoff notes: severe-weather regime is extrapolation; RF cannot</a:t>
            </a:r>
          </a:p>
          <a:p>
            <a:pPr>
              <a:defRPr sz="2000"/>
            </a:pPr>
            <a:r>
              <a:t>   extrapolate - gradient boosting (paper's GBM) may do better on</a:t>
            </a:r>
          </a:p>
          <a:p>
            <a:pPr>
              <a:defRPr sz="2000"/>
            </a:pPr>
            <a:r>
              <a:t>   the recent-trend drift; hour is the most important feature.</a:t>
            </a:r>
          </a:p>
          <a:p>
            <a:pPr>
              <a:defRPr sz="2000"/>
            </a:pPr>
            <a:r>
              <a:t>Demo input side lives in app/demo_app.py (Streamlit).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